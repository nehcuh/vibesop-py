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0"/>
            <a:ext cx="4373575" cy="6858000"/>
          </a:xfrm>
          <a:prstGeom prst="rect">
            <a:avLst/>
          </a:prstGeom>
          <a:solidFill>
            <a:srgbClr val="0E0C0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30352"/>
            <a:ext cx="219456" cy="219456"/>
          </a:xfrm>
          <a:prstGeom prst="diamond">
            <a:avLst/>
          </a:prstGeom>
          <a:ln w="9525">
            <a:solidFill>
              <a:srgbClr val="14110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7388" y="567660"/>
            <a:ext cx="144841" cy="144841"/>
          </a:xfrm>
          <a:prstGeom prst="diamond">
            <a:avLst/>
          </a:prstGeom>
          <a:solidFill>
            <a:srgbClr val="14110F"/>
          </a:solidFill>
          <a:ln/>
        </p:spPr>
      </p:sp>
      <p:sp>
        <p:nvSpPr>
          <p:cNvPr id="5" name="Text 3"/>
          <p:cNvSpPr/>
          <p:nvPr/>
        </p:nvSpPr>
        <p:spPr>
          <a:xfrm>
            <a:off x="987552" y="47548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10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内部介绍  ·  2026.09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4110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VibeSOP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110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先测误区，再做产品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6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跨代理的技能操作系统。对照实验约束产品承诺。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75320" y="214884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 选择要对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 执行要留痕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 结论要可验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75320" y="48920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88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选择、执行、结论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E88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都要有可检查的依据。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201168" cy="201168"/>
          </a:xfrm>
          <a:prstGeom prst="diamond">
            <a:avLst/>
          </a:prstGeom>
          <a:ln w="9525">
            <a:solidFill>
              <a:srgbClr val="14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1127" y="418247"/>
            <a:ext cx="132771" cy="132771"/>
          </a:xfrm>
          <a:prstGeom prst="diamond">
            <a:avLst/>
          </a:prstGeom>
          <a:solidFill>
            <a:srgbClr val="14110F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3291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14110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VIBESOP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44368" y="484632"/>
            <a:ext cx="347472" cy="0"/>
          </a:xfrm>
          <a:prstGeom prst="line">
            <a:avLst/>
          </a:prstGeom>
          <a:noFill/>
          <a:ln w="9525">
            <a:solidFill>
              <a:srgbClr val="CFC6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01568" y="329184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2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方法论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637215" y="329184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A82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 / 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868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110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五条直觉，实验打掉了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66928" y="1481328"/>
            <a:ext cx="11064240" cy="0"/>
          </a:xfrm>
          <a:prstGeom prst="line">
            <a:avLst/>
          </a:prstGeom>
          <a:noFill/>
          <a:ln w="9525">
            <a:solidFill>
              <a:srgbClr val="CFC6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591056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2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1591056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10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技能装上就会更好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77840" y="1591056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6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写满的题五次打平。技能只补 spec 缺口。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6928" y="2395728"/>
            <a:ext cx="11064240" cy="0"/>
          </a:xfrm>
          <a:prstGeom prst="line">
            <a:avLst/>
          </a:prstGeom>
          <a:noFill/>
          <a:ln w="9525">
            <a:solidFill>
              <a:srgbClr val="CFC6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505456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2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2505456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10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弱模型 + 技能 ≈ 强模型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77840" y="2505456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6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表面 22 分接近强模型。技能文件读了 0 次。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66928" y="3310128"/>
            <a:ext cx="11064240" cy="0"/>
          </a:xfrm>
          <a:prstGeom prst="line">
            <a:avLst/>
          </a:prstGeom>
          <a:noFill/>
          <a:ln w="9525">
            <a:solidFill>
              <a:srgbClr val="CFC6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419856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2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3419856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10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专家越多越好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77840" y="3419856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6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单体 67/72，委员会 0/72。软结束后仍未超过单体。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66928" y="4224528"/>
            <a:ext cx="11064240" cy="0"/>
          </a:xfrm>
          <a:prstGeom prst="line">
            <a:avLst/>
          </a:prstGeom>
          <a:noFill/>
          <a:ln w="9525">
            <a:solidFill>
              <a:srgbClr val="CFC6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4334256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2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5880" y="4334256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10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多评几轮就会收敛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77840" y="4334256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6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三路 MAJOR 互斥。发现不收敛，决策才收敛。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66928" y="5138928"/>
            <a:ext cx="11064240" cy="0"/>
          </a:xfrm>
          <a:prstGeom prst="line">
            <a:avLst/>
          </a:prstGeom>
          <a:noFill/>
          <a:ln w="9525">
            <a:solidFill>
              <a:srgbClr val="CFC6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5248656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2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25880" y="5248656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10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命中率高就是路由好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77840" y="5248656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6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日常负例 5/7 误注入。82% 置信是硬编码。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201168" cy="201168"/>
          </a:xfrm>
          <a:prstGeom prst="diamond">
            <a:avLst/>
          </a:prstGeom>
          <a:ln w="9525">
            <a:solidFill>
              <a:srgbClr val="14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1127" y="418247"/>
            <a:ext cx="132771" cy="132771"/>
          </a:xfrm>
          <a:prstGeom prst="diamond">
            <a:avLst/>
          </a:prstGeom>
          <a:solidFill>
            <a:srgbClr val="14110F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3291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14110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VIBESOP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44368" y="484632"/>
            <a:ext cx="347472" cy="0"/>
          </a:xfrm>
          <a:prstGeom prst="line">
            <a:avLst/>
          </a:prstGeom>
          <a:noFill/>
          <a:ln w="9525">
            <a:solidFill>
              <a:srgbClr val="CFC6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01568" y="329184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2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637215" y="329184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A82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/ 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8686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110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两张对照表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66928" y="1463040"/>
            <a:ext cx="5394960" cy="4526280"/>
          </a:xfrm>
          <a:prstGeom prst="rect">
            <a:avLst/>
          </a:prstGeom>
          <a:solidFill>
            <a:srgbClr val="F4F1EB"/>
          </a:solidFill>
          <a:ln w="12700">
            <a:solidFill>
              <a:srgbClr val="D9D1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459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2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技能注入  R1–R8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0116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110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23.5 = 23.5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2960" y="26974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6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喷气机教学页。处理组读了技能 80 次，分数打平。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429000"/>
            <a:ext cx="4892040" cy="0"/>
          </a:xfrm>
          <a:prstGeom prst="line">
            <a:avLst/>
          </a:prstGeom>
          <a:noFill/>
          <a:ln w="9525">
            <a:solidFill>
              <a:srgbClr val="CFC6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118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10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五次平手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38862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6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题目写满或先验盖得住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43251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10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 次读卡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45994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6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弱模型 22 分，赢的是脚手架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503834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10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R8 显形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531266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6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粗任务书；盲评尚未结算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36208" y="1463040"/>
            <a:ext cx="5394960" cy="4526280"/>
          </a:xfrm>
          <a:prstGeom prst="rect">
            <a:avLst/>
          </a:prstGeom>
          <a:solidFill>
            <a:srgbClr val="0E0C0B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164592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8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多专家组织  主 360 + 补充 144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201168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67  vs  0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492240" y="269748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88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单体 vs 专家委员会。72 次全卡在阶段额度。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92240" y="3429000"/>
            <a:ext cx="4892040" cy="0"/>
          </a:xfrm>
          <a:prstGeom prst="line">
            <a:avLst/>
          </a:prstGeom>
          <a:noFill/>
          <a:ln w="9525">
            <a:solidFill>
              <a:srgbClr val="3A33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61188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软结束 69 vs 61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92240" y="388620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8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能交付了，仍未到 +10pp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92240" y="4325112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真实仓库 42 vs 40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92240" y="4599432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8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七专家调用约 7.6 倍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92240" y="5038344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常驻编制不默认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92240" y="5312664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8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方法卡按需点名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201168" cy="201168"/>
          </a:xfrm>
          <a:prstGeom prst="diamond">
            <a:avLst/>
          </a:prstGeom>
          <a:ln w="9525">
            <a:solidFill>
              <a:srgbClr val="14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1127" y="418247"/>
            <a:ext cx="132771" cy="132771"/>
          </a:xfrm>
          <a:prstGeom prst="diamond">
            <a:avLst/>
          </a:prstGeom>
          <a:solidFill>
            <a:srgbClr val="14110F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3291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14110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VIBESOP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44368" y="484632"/>
            <a:ext cx="347472" cy="0"/>
          </a:xfrm>
          <a:prstGeom prst="line">
            <a:avLst/>
          </a:prstGeom>
          <a:noFill/>
          <a:ln w="9525">
            <a:solidFill>
              <a:srgbClr val="CFC6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01568" y="329184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2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问题与做法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637215" y="329184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A82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/ 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868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110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五件事要可检查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66928" y="1554480"/>
            <a:ext cx="2121408" cy="2331720"/>
          </a:xfrm>
          <a:prstGeom prst="rect">
            <a:avLst/>
          </a:prstGeom>
          <a:solidFill>
            <a:srgbClr val="F4F1EB"/>
          </a:solidFill>
          <a:ln w="12700">
            <a:solidFill>
              <a:srgbClr val="D9D1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7007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2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" y="20299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110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规格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3232" y="25603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6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目标和验收写清了吗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834640" y="1554480"/>
            <a:ext cx="2121408" cy="2331720"/>
          </a:xfrm>
          <a:prstGeom prst="rect">
            <a:avLst/>
          </a:prstGeom>
          <a:solidFill>
            <a:srgbClr val="F4F1EB"/>
          </a:solidFill>
          <a:ln w="12700">
            <a:solidFill>
              <a:srgbClr val="D9D1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80944" y="17007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2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80944" y="20299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110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路由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980944" y="25603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6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找不到匹配是成功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102352" y="1554480"/>
            <a:ext cx="2121408" cy="2331720"/>
          </a:xfrm>
          <a:prstGeom prst="rect">
            <a:avLst/>
          </a:prstGeom>
          <a:solidFill>
            <a:srgbClr val="F4F1EB"/>
          </a:solidFill>
          <a:ln w="12700">
            <a:solidFill>
              <a:srgbClr val="D9D1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48656" y="17007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2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48656" y="20299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110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消费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248656" y="25603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6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选中 ≠ 读到 ≠ 执行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70064" y="1554480"/>
            <a:ext cx="2121408" cy="2331720"/>
          </a:xfrm>
          <a:prstGeom prst="rect">
            <a:avLst/>
          </a:prstGeom>
          <a:solidFill>
            <a:srgbClr val="F4F1EB"/>
          </a:solidFill>
          <a:ln w="12700">
            <a:solidFill>
              <a:srgbClr val="D9D1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16368" y="17007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2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516368" y="20299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110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放行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516368" y="25603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6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测试和人签字才算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637776" y="1554480"/>
            <a:ext cx="2121408" cy="2331720"/>
          </a:xfrm>
          <a:prstGeom prst="rect">
            <a:avLst/>
          </a:prstGeom>
          <a:solidFill>
            <a:srgbClr val="F4F1EB"/>
          </a:solidFill>
          <a:ln w="12700">
            <a:solidFill>
              <a:srgbClr val="D9D1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84080" y="17007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2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784080" y="20299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110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记忆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784080" y="25603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6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纠正要留下去处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6928" y="4114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2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落地成四层分工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66928" y="45262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10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设计院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66928" y="48920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6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最强模型拆成写满的子任务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401568" y="45262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10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施工队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401568" y="48920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6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普通模型照图干；可并行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36208" y="45262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10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监理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236208" y="48920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6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评审只咨询，闸在测试和人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070848" y="45262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10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档案馆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070848" y="48920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6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痕迹可检索，人审才晋升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66928" y="647395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2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整机流水线是工程假设。八轮测的是零件。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201168" cy="201168"/>
          </a:xfrm>
          <a:prstGeom prst="diamond">
            <a:avLst/>
          </a:prstGeom>
          <a:ln w="9525">
            <a:solidFill>
              <a:srgbClr val="14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1127" y="418247"/>
            <a:ext cx="132771" cy="132771"/>
          </a:xfrm>
          <a:prstGeom prst="diamond">
            <a:avLst/>
          </a:prstGeom>
          <a:solidFill>
            <a:srgbClr val="14110F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3291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14110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VIBESOP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44368" y="484632"/>
            <a:ext cx="347472" cy="0"/>
          </a:xfrm>
          <a:prstGeom prst="line">
            <a:avLst/>
          </a:prstGeom>
          <a:noFill/>
          <a:ln w="9525">
            <a:solidFill>
              <a:srgbClr val="CFC6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01568" y="329184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2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差异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637215" y="329184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A82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 / 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868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10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查看器列卡片。我们管路由和账本。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66928" y="155448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2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各家内置查看器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155448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2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VibeSOP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89904" y="1554480"/>
            <a:ext cx="0" cy="4114800"/>
          </a:xfrm>
          <a:prstGeom prst="line">
            <a:avLst/>
          </a:prstGeom>
          <a:noFill/>
          <a:ln w="9525">
            <a:solidFill>
              <a:srgbClr val="CFC6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01168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2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0116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10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本家、本机、本会话的文件树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6928" y="27889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2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27889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10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人自己点开某张卡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6928" y="356616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2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35661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10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只知道文件在不在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6928" y="43434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2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43434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10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纠正停在这次对话里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201168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2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59168" y="2011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10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一次安装，分发到六家代理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92240" y="27889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2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59168" y="27889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10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请求进门时自动匹配；找不到是成功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92240" y="356616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2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59168" y="35661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10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选中、读到、执行分开记账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92240" y="43434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2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59168" y="43434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10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跨会话、跨代理可检索；人审才进池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2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不替代 Claude / Cursor。写代码仍由宿主代理执行。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201168" cy="201168"/>
          </a:xfrm>
          <a:prstGeom prst="diamond">
            <a:avLst/>
          </a:prstGeom>
          <a:ln w="9525">
            <a:solidFill>
              <a:srgbClr val="14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1127" y="418247"/>
            <a:ext cx="132771" cy="132771"/>
          </a:xfrm>
          <a:prstGeom prst="diamond">
            <a:avLst/>
          </a:prstGeom>
          <a:solidFill>
            <a:srgbClr val="14110F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3291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14110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VIBESOP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44368" y="484632"/>
            <a:ext cx="347472" cy="0"/>
          </a:xfrm>
          <a:prstGeom prst="line">
            <a:avLst/>
          </a:prstGeom>
          <a:noFill/>
          <a:ln w="9525">
            <a:solidFill>
              <a:srgbClr val="CFC6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01568" y="329184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2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亮点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637215" y="329184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A82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 / 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868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110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三件别人目录里没有的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66928" y="1508760"/>
            <a:ext cx="3611880" cy="4434840"/>
          </a:xfrm>
          <a:prstGeom prst="rect">
            <a:avLst/>
          </a:prstGeom>
          <a:solidFill>
            <a:srgbClr val="F4F1EB"/>
          </a:solidFill>
          <a:ln w="12700">
            <a:solidFill>
              <a:srgbClr val="D9D1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6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194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4110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全局记忆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22960" y="29718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6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按任务聚类，人审才晋升。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E66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只承诺可检索。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61688" y="1508760"/>
            <a:ext cx="3611880" cy="4434840"/>
          </a:xfrm>
          <a:prstGeom prst="rect">
            <a:avLst/>
          </a:prstGeom>
          <a:solidFill>
            <a:srgbClr val="0E0C0B"/>
          </a:solidFill>
          <a:ln w="12700">
            <a:solidFill>
              <a:srgbClr val="0E0C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87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17720" y="2194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多层语义路由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617720" y="29718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88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点名、索引、分诊、并行匹配。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E88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必须允许「没有」。过灌更糟。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156448" y="1508760"/>
            <a:ext cx="3611880" cy="4434840"/>
          </a:xfrm>
          <a:prstGeom prst="rect">
            <a:avLst/>
          </a:prstGeom>
          <a:solidFill>
            <a:srgbClr val="F4F1EB"/>
          </a:solidFill>
          <a:ln w="12700">
            <a:solidFill>
              <a:srgbClr val="D9D1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6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0" y="2194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4110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流程化说明书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412480" y="29718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6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何时用、怎么验、反例写清。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E66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方法卡按需点名，用完即弃。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201168" cy="201168"/>
          </a:xfrm>
          <a:prstGeom prst="diamond">
            <a:avLst/>
          </a:prstGeom>
          <a:ln w="9525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1127" y="491399"/>
            <a:ext cx="132771" cy="132771"/>
          </a:xfrm>
          <a:prstGeom prst="diamond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0233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VIBESOP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37215" y="402336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887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 / 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41732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E887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41732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技能按缺口工作。写满的图让技能冗余。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66928" y="256032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E887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256032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组织按证据扩编。专家团要先证明多交出东西。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66928" y="370332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E887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370332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可信只能被测量。测量工具也要被测量。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66928" y="4983480"/>
            <a:ext cx="11064240" cy="0"/>
          </a:xfrm>
          <a:prstGeom prst="line">
            <a:avLst/>
          </a:prstGeom>
          <a:noFill/>
          <a:ln w="9525">
            <a:solidFill>
              <a:srgbClr val="3A33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5212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8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试用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uv tool install vibesop    →    vibe build &lt;主力代理&gt;    →    重启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" y="59893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8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日常对话不命中技能，是正常结果。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VibeSOP 内部介绍</dc:title>
  <dc:subject>方法论误区 · 要解决的问题 · 为何自建</dc:subject>
  <dc:creator>VibeSOP</dc:creator>
  <cp:lastModifiedBy>VibeSOP</cp:lastModifiedBy>
  <cp:revision>1</cp:revision>
  <dcterms:created xsi:type="dcterms:W3CDTF">2026-09-21T07:32:37Z</dcterms:created>
  <dcterms:modified xsi:type="dcterms:W3CDTF">2026-09-21T07:32:37Z</dcterms:modified>
</cp:coreProperties>
</file>